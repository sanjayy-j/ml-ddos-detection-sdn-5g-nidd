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4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11fd8f482ad4550" /><Relationship Type="http://schemas.openxmlformats.org/officeDocument/2006/relationships/extended-properties" Target="/docProps/app.xml" Id="R85230d054dc944ae" /><Relationship Type="http://schemas.openxmlformats.org/officeDocument/2006/relationships/officeDocument" Target="/ppt/presentation.xml" Id="Rad9e19b4559447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adcc8b44bc94ac0"/>
  </p:sldMasterIdLst>
  <p:notesMasterIdLst>
    <p:notesMasterId xmlns:r="http://schemas.openxmlformats.org/officeDocument/2006/relationships" r:id="R726bde8ca7b0411e"/>
  </p:notesMasterIdLst>
  <p:sldIdLst>
    <p:sldId xmlns:r="http://schemas.openxmlformats.org/officeDocument/2006/relationships" id="256" r:id="Rb962c53fe7e44ec8"/>
    <p:sldId xmlns:r="http://schemas.openxmlformats.org/officeDocument/2006/relationships" id="257" r:id="R25c68f936e3e4afc"/>
    <p:sldId xmlns:r="http://schemas.openxmlformats.org/officeDocument/2006/relationships" id="258" r:id="R815c8d10d2854471"/>
    <p:sldId xmlns:r="http://schemas.openxmlformats.org/officeDocument/2006/relationships" id="259" r:id="R5a7d02750e854784"/>
    <p:sldId xmlns:r="http://schemas.openxmlformats.org/officeDocument/2006/relationships" id="260" r:id="Rcefe9bb9ae4f4508"/>
    <p:sldId xmlns:r="http://schemas.openxmlformats.org/officeDocument/2006/relationships" id="261" r:id="R05890dc19da644fc"/>
    <p:sldId xmlns:r="http://schemas.openxmlformats.org/officeDocument/2006/relationships" id="262" r:id="R429affb10160434c"/>
    <p:sldId xmlns:r="http://schemas.openxmlformats.org/officeDocument/2006/relationships" id="263" r:id="Rd47e893c922a48d5"/>
    <p:sldId xmlns:r="http://schemas.openxmlformats.org/officeDocument/2006/relationships" id="264" r:id="R74ebf1276d7b434f"/>
    <p:sldId xmlns:r="http://schemas.openxmlformats.org/officeDocument/2006/relationships" id="265" r:id="R8fee4f25134b47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e47122deb84496f" /><Relationship Type="http://schemas.openxmlformats.org/officeDocument/2006/relationships/slideMaster" Target="/ppt/slideMasters/slideMaster1.xml" Id="R4adcc8b44bc94ac0" /><Relationship Type="http://schemas.openxmlformats.org/officeDocument/2006/relationships/notesMaster" Target="/ppt/notesMasters/notesMaster1.xml" Id="R726bde8ca7b0411e" /><Relationship Type="http://schemas.openxmlformats.org/officeDocument/2006/relationships/presProps" Target="/ppt/presProps.xml" Id="R221e6f867144443b" /><Relationship Type="http://schemas.openxmlformats.org/officeDocument/2006/relationships/tableStyles" Target="/ppt/tableStyles.xml" Id="R5dd905a5be7a4b3d" /><Relationship Type="http://schemas.openxmlformats.org/officeDocument/2006/relationships/slide" Target="/ppt/slides/slide1.xml" Id="Rb962c53fe7e44ec8" /><Relationship Type="http://schemas.openxmlformats.org/officeDocument/2006/relationships/slide" Target="/ppt/slides/slide2.xml" Id="R25c68f936e3e4afc" /><Relationship Type="http://schemas.openxmlformats.org/officeDocument/2006/relationships/slide" Target="/ppt/slides/slide3.xml" Id="R815c8d10d2854471" /><Relationship Type="http://schemas.openxmlformats.org/officeDocument/2006/relationships/slide" Target="/ppt/slides/slide4.xml" Id="R5a7d02750e854784" /><Relationship Type="http://schemas.openxmlformats.org/officeDocument/2006/relationships/slide" Target="/ppt/slides/slide5.xml" Id="Rcefe9bb9ae4f4508" /><Relationship Type="http://schemas.openxmlformats.org/officeDocument/2006/relationships/slide" Target="/ppt/slides/slide6.xml" Id="R05890dc19da644fc" /><Relationship Type="http://schemas.openxmlformats.org/officeDocument/2006/relationships/slide" Target="/ppt/slides/slide7.xml" Id="R429affb10160434c" /><Relationship Type="http://schemas.openxmlformats.org/officeDocument/2006/relationships/slide" Target="/ppt/slides/slide8.xml" Id="Rd47e893c922a48d5" /><Relationship Type="http://schemas.openxmlformats.org/officeDocument/2006/relationships/slide" Target="/ppt/slides/slide9.xml" Id="R74ebf1276d7b434f" /><Relationship Type="http://schemas.openxmlformats.org/officeDocument/2006/relationships/slide" Target="/ppt/slides/slide10.xml" Id="R8fee4f25134b47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1a1318db9f422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e65778621240a6" /><Relationship Type="http://schemas.openxmlformats.org/officeDocument/2006/relationships/notesMaster" Target="/ppt/notesMasters/notesMaster1.xml" Id="Re48e2eded5a1406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76812d4cab54dcb" /><Relationship Type="http://schemas.openxmlformats.org/officeDocument/2006/relationships/notesMaster" Target="/ppt/notesMasters/notesMaster1.xml" Id="R8a9f6405b7a040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eaf4c1f91b14df8" /><Relationship Type="http://schemas.openxmlformats.org/officeDocument/2006/relationships/notesMaster" Target="/ppt/notesMasters/notesMaster1.xml" Id="R9322126343e143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79ad96fe9654018" /><Relationship Type="http://schemas.openxmlformats.org/officeDocument/2006/relationships/notesMaster" Target="/ppt/notesMasters/notesMaster1.xml" Id="Rc180e802a8ee49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4ba5faf1974e80" /><Relationship Type="http://schemas.openxmlformats.org/officeDocument/2006/relationships/notesMaster" Target="/ppt/notesMasters/notesMaster1.xml" Id="Rd8b9f91932634e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5d4ab4c94a4716" /><Relationship Type="http://schemas.openxmlformats.org/officeDocument/2006/relationships/notesMaster" Target="/ppt/notesMasters/notesMaster1.xml" Id="R25342416550745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9133352da14c96" /><Relationship Type="http://schemas.openxmlformats.org/officeDocument/2006/relationships/notesMaster" Target="/ppt/notesMasters/notesMaster1.xml" Id="R5d441496f9c1489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95edc22ef9347dc" /><Relationship Type="http://schemas.openxmlformats.org/officeDocument/2006/relationships/notesMaster" Target="/ppt/notesMasters/notesMaster1.xml" Id="R39144e2ef60d40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b04312a78a46c2" /><Relationship Type="http://schemas.openxmlformats.org/officeDocument/2006/relationships/notesMaster" Target="/ppt/notesMasters/notesMaster1.xml" Id="Raa80e3ae8a7347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82badab44564738" /><Relationship Type="http://schemas.openxmlformats.org/officeDocument/2006/relationships/notesMaster" Target="/ppt/notesMasters/notesMaster1.xml" Id="R299911aa81554cf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Official dataset: https://arxiv.org/abs/2212.01298 and https://doi.org/10.23729/e80ac9df-d9fb-47e7-8d0d-01384a415361. Existing HAT/ADWIN and sFlow methods; no new algorithm or physical 5G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configs/research_protocol.json, frozen before primary outcomes. Local protocol, not an external preregistration registry.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docs/research-methods.md; sdn/live_ground_truth.py; src/m3/causal_live.py. sFlow specification https://sflow.org/sflow_version_5.txt. Labels derive from authoritative original flow matches, not filenames or sampled predictions.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research/results/aggregated_metrics.json and linked primary run evidence. Three repeats per cell; fixed traffic, limited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research/results/aggregated_metrics.json and linked primary run evidence. Three repeats per cell; fixed traffic, limited generalization.</a:t>
            </a:r>
          </a:p>
          <a:p xmlns:a="http://schemas.openxmlformats.org/drawingml/2006/main">
            <a:r>
              <a:t>Cost basis: sFlow IPv4+UDP+payload; OpenFlow captured IP bytes. Full combined-channel Pareto analysis is in the report. No physical wire/FCS or switch-CPU claim.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research/results/aggregated_metrics.json and linked primary run evidence. Three repeats per cell; fixed traffic, limited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research/results/aggregated_metrics.json and linked primary run evidence. Three repeats per cell; fixed traffic, limited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research/results/aggregated_metrics.json and linked primary run evidence. Three repeats per cell; fixed traffic, limited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research/results/aggregated_metrics.json and linked primary run evidence. Three repeats per cell; fixed traffic, limited generalization.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 files: research/M3_Research_Report.md, docs/research-methods.md, docs/research-related-work.md, research/results/derived_trial_evidence.zip. HAT: https://doi.org/10.1007/978-3-642-03915-7_22. ADWIN: https://doi.org/10.1137/1.9781611972771.42. Prior sampling study: https://doi.org/10.1016/j.future.2019.10.015.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976f29af6b413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40652c3975485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de500949bc24a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d616e7ab8473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f3a5621d09462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b27355206643c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82CF4BA-0DAB-416F-93BF-A19EBE4CC5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F4B39D0-3E6F-48F8-A159-A36D8250011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5FF54819-B366-460C-90E5-F80CDB6BF7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3BD73F9-B7DC-4B7B-BA92-8FD97DD4BE1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6CF35BDE-7E78-4FD3-9470-3C591DC6B92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44DB68A-5EAE-41B3-9AAB-746846EC01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4B30470-F2DF-4C30-AF5D-3AEC71BEF1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3A62C5B-5A5E-4852-98F5-35D9A6A8732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C65769B-D97E-4301-BB5B-4EFBACC52B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954D5931-1015-485F-9858-AF8CE0B09DD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f7725c7b5f64113" /><Relationship Type="http://schemas.openxmlformats.org/officeDocument/2006/relationships/slideLayout" Target="/ppt/slideLayouts/slideLayout1.xml" Id="R75743d24ce7c417f" /><Relationship Type="http://schemas.openxmlformats.org/officeDocument/2006/relationships/slideLayout" Target="/ppt/slideLayouts/slideLayout2.xml" Id="Rddf4f27684774fdc" /><Relationship Type="http://schemas.openxmlformats.org/officeDocument/2006/relationships/slideLayout" Target="/ppt/slideLayouts/slideLayout3.xml" Id="R3759930c34fd478c" /><Relationship Type="http://schemas.openxmlformats.org/officeDocument/2006/relationships/slideLayout" Target="/ppt/slideLayouts/slideLayout4.xml" Id="R83a6408b64c04b95" /><Relationship Type="http://schemas.openxmlformats.org/officeDocument/2006/relationships/slideLayout" Target="/ppt/slideLayouts/slideLayout5.xml" Id="R1273db973a104c74" /><Relationship Type="http://schemas.openxmlformats.org/officeDocument/2006/relationships/slideLayout" Target="/ppt/slideLayouts/slideLayout6.xml" Id="R02db50f3aeac45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5743d24ce7c417f"/>
    <p:sldLayoutId xmlns:r="http://schemas.openxmlformats.org/officeDocument/2006/relationships" id="2147483650" r:id="Rddf4f27684774fdc"/>
    <p:sldLayoutId xmlns:r="http://schemas.openxmlformats.org/officeDocument/2006/relationships" id="2147483651" r:id="R3759930c34fd478c"/>
    <p:sldLayoutId xmlns:r="http://schemas.openxmlformats.org/officeDocument/2006/relationships" id="2147483652" r:id="R83a6408b64c04b95"/>
    <p:sldLayoutId xmlns:r="http://schemas.openxmlformats.org/officeDocument/2006/relationships" id="2147483653" r:id="R1273db973a104c74"/>
    <p:sldLayoutId xmlns:r="http://schemas.openxmlformats.org/officeDocument/2006/relationships" id="2147483654" r:id="R02db50f3aeac45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14187e31ea4e91" /><Relationship Type="http://schemas.openxmlformats.org/officeDocument/2006/relationships/notesSlide" Target="/ppt/notesSlides/notesSlide1.xml" Id="R63739dce6adf466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8b468b6c1cd4157" /><Relationship Type="http://schemas.openxmlformats.org/officeDocument/2006/relationships/notesSlide" Target="/ppt/notesSlides/notesSlide2.xml" Id="R9a1728a1dc3647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c42ea857d124750" /><Relationship Type="http://schemas.openxmlformats.org/officeDocument/2006/relationships/notesSlide" Target="/ppt/notesSlides/notesSlide3.xml" Id="R46b9dd752016481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d76c09b7b244f0" /><Relationship Type="http://schemas.openxmlformats.org/officeDocument/2006/relationships/chart" Target="/ppt/slides/charts/chart1.xml" Id="R78392219f0fb4680" /><Relationship Type="http://schemas.openxmlformats.org/officeDocument/2006/relationships/notesSlide" Target="/ppt/notesSlides/notesSlide4.xml" Id="R0cf2976acfdd46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e81a1081d5842e7" /><Relationship Type="http://schemas.openxmlformats.org/officeDocument/2006/relationships/chart" Target="/ppt/slides/charts/chart2.xml" Id="R9ac7e41cbe634458" /><Relationship Type="http://schemas.openxmlformats.org/officeDocument/2006/relationships/notesSlide" Target="/ppt/notesSlides/notesSlide5.xml" Id="R98d960e2e3674eb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dec4251dee24139" /><Relationship Type="http://schemas.openxmlformats.org/officeDocument/2006/relationships/chart" Target="/ppt/slides/charts/chart3.xml" Id="R8c5e8f2671844580" /><Relationship Type="http://schemas.openxmlformats.org/officeDocument/2006/relationships/notesSlide" Target="/ppt/notesSlides/notesSlide6.xml" Id="Re264e761a6f0444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5d8de5044824b5d" /><Relationship Type="http://schemas.openxmlformats.org/officeDocument/2006/relationships/notesSlide" Target="/ppt/notesSlides/notesSlide7.xml" Id="R7d4554a565544c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d76f476935a4775" /><Relationship Type="http://schemas.openxmlformats.org/officeDocument/2006/relationships/chart" Target="/ppt/slides/charts/chart4.xml" Id="R3bb5d4c4b177468c" /><Relationship Type="http://schemas.openxmlformats.org/officeDocument/2006/relationships/notesSlide" Target="/ppt/notesSlides/notesSlide8.xml" Id="Rf34f299e28b549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9cf888ad2741b4" /><Relationship Type="http://schemas.openxmlformats.org/officeDocument/2006/relationships/notesSlide" Target="/ppt/notesSlides/notesSlide9.xml" Id="R5fa2d2d4f9334d7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e1265699fc4c07" /><Relationship Type="http://schemas.openxmlformats.org/officeDocument/2006/relationships/notesSlide" Target="/ppt/notesSlides/notesSlide10.xml" Id="Rf659e362240547dc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ln xmlns:a="http://schemas.openxmlformats.org/drawingml/2006/main" w="28575">
              <a:solidFill>
                <a:srgbClr val="17446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7446B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0.691924529408</c:v>
                </c:pt>
                <c:pt idx="1">
                  <c:v>0.956239617414</c:v>
                </c:pt>
                <c:pt idx="2">
                  <c:v>0.777256798882</c:v>
                </c:pt>
                <c:pt idx="3">
                  <c:v>0.687788405572</c:v>
                </c:pt>
                <c:pt idx="4">
                  <c:v>0.600580017253</c:v>
                </c:pt>
                <c:pt idx="5">
                  <c:v>0.614771071223</c:v>
                </c:pt>
              </c:numCache>
            </c:numRef>
          </c:val>
          <c:smooth val="0"/>
        </c:ser>
        <c:ser>
          <c:idx val="1"/>
          <c:order val="1"/>
          <c:tx>
            <c:v>Drift</c:v>
          </c:tx>
          <c:spPr>
            <a:ln xmlns:a="http://schemas.openxmlformats.org/drawingml/2006/main" w="28575">
              <a:solidFill>
                <a:srgbClr val="AD582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D5823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0.777827700885</c:v>
                </c:pt>
                <c:pt idx="1">
                  <c:v>0.954034791614</c:v>
                </c:pt>
                <c:pt idx="2">
                  <c:v>0.776477899304</c:v>
                </c:pt>
                <c:pt idx="3">
                  <c:v>0.701786903097</c:v>
                </c:pt>
                <c:pt idx="4">
                  <c:v>0.614162158205</c:v>
                </c:pt>
                <c:pt idx="5">
                  <c:v>0.614306963699</c:v>
                </c:pt>
              </c:numCache>
            </c:numRef>
          </c:val>
          <c:smooth val="0"/>
        </c:ser>
        <c:ser>
          <c:idx val="2"/>
          <c:order val="2"/>
          <c:tx>
            <c:v>Unseen</c:v>
          </c:tx>
          <c:spPr>
            <a:ln xmlns:a="http://schemas.openxmlformats.org/drawingml/2006/main" w="28575">
              <a:solidFill>
                <a:srgbClr val="287755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87755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0.688018918584</c:v>
                </c:pt>
                <c:pt idx="1">
                  <c:v>0.961791249571</c:v>
                </c:pt>
                <c:pt idx="2">
                  <c:v>0.776734234008</c:v>
                </c:pt>
                <c:pt idx="3">
                  <c:v>0.709328328586</c:v>
                </c:pt>
                <c:pt idx="4">
                  <c:v>0.630171777531</c:v>
                </c:pt>
                <c:pt idx="5">
                  <c:v>0.594814987497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Switch sampling denominator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Attack F1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ln xmlns:a="http://schemas.openxmlformats.org/drawingml/2006/main" w="28575">
              <a:solidFill>
                <a:srgbClr val="17446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7446B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160.13184</c:v>
                </c:pt>
                <c:pt idx="1">
                  <c:v>84.8108373333</c:v>
                </c:pt>
                <c:pt idx="2">
                  <c:v>39.9414613333</c:v>
                </c:pt>
                <c:pt idx="3">
                  <c:v>24.8192853333</c:v>
                </c:pt>
                <c:pt idx="4">
                  <c:v>17.5681706667</c:v>
                </c:pt>
                <c:pt idx="5">
                  <c:v>13.050112</c:v>
                </c:pt>
              </c:numCache>
            </c:numRef>
          </c:val>
          <c:smooth val="0"/>
        </c:ser>
        <c:ser>
          <c:idx val="1"/>
          <c:order val="1"/>
          <c:tx>
            <c:v>Drift</c:v>
          </c:tx>
          <c:spPr>
            <a:ln xmlns:a="http://schemas.openxmlformats.org/drawingml/2006/main" w="28575">
              <a:solidFill>
                <a:srgbClr val="AD582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D5823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141.318472934</c:v>
                </c:pt>
                <c:pt idx="1">
                  <c:v>76.2326609687</c:v>
                </c:pt>
                <c:pt idx="2">
                  <c:v>36.3450712251</c:v>
                </c:pt>
                <c:pt idx="3">
                  <c:v>23.0918746439</c:v>
                </c:pt>
                <c:pt idx="4">
                  <c:v>16.5320569801</c:v>
                </c:pt>
                <c:pt idx="5">
                  <c:v>12.7757492877</c:v>
                </c:pt>
              </c:numCache>
            </c:numRef>
          </c:val>
          <c:smooth val="0"/>
        </c:ser>
        <c:ser>
          <c:idx val="2"/>
          <c:order val="2"/>
          <c:tx>
            <c:v>Unseen</c:v>
          </c:tx>
          <c:spPr>
            <a:ln xmlns:a="http://schemas.openxmlformats.org/drawingml/2006/main" w="28575">
              <a:solidFill>
                <a:srgbClr val="287755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87755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159.29344</c:v>
                </c:pt>
                <c:pt idx="1">
                  <c:v>85.1641173333</c:v>
                </c:pt>
                <c:pt idx="2">
                  <c:v>39.8533973333</c:v>
                </c:pt>
                <c:pt idx="3">
                  <c:v>24.8490666667</c:v>
                </c:pt>
                <c:pt idx="4">
                  <c:v>17.7294506667</c:v>
                </c:pt>
                <c:pt idx="5">
                  <c:v>12.9534293333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Switch sampling denominator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sFlow IP-layer kbit/s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ln xmlns:a="http://schemas.openxmlformats.org/drawingml/2006/main" w="28575">
              <a:solidFill>
                <a:srgbClr val="17446B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17446B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Data'!$B$2:$B$7</c:f>
              <c:numCache>
                <c:formatCode>0.00</c:formatCode>
                <c:ptCount val="6"/>
                <c:pt idx="0">
                  <c:v>0.886707054492</c:v>
                </c:pt>
                <c:pt idx="1">
                  <c:v>0.089630394068</c:v>
                </c:pt>
                <c:pt idx="2">
                  <c:v>0.473084886128</c:v>
                </c:pt>
                <c:pt idx="3">
                  <c:v>0.709593063996</c:v>
                </c:pt>
                <c:pt idx="4">
                  <c:v>0.820259830445</c:v>
                </c:pt>
                <c:pt idx="5">
                  <c:v>0.760982430659</c:v>
                </c:pt>
              </c:numCache>
            </c:numRef>
          </c:val>
          <c:smooth val="0"/>
        </c:ser>
        <c:ser>
          <c:idx val="1"/>
          <c:order val="1"/>
          <c:tx>
            <c:v>Drift</c:v>
          </c:tx>
          <c:spPr>
            <a:ln xmlns:a="http://schemas.openxmlformats.org/drawingml/2006/main" w="28575">
              <a:solidFill>
                <a:srgbClr val="AD5823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AD5823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Data'!$D$2:$D$7</c:f>
              <c:numCache>
                <c:formatCode>0.00</c:formatCode>
                <c:ptCount val="6"/>
                <c:pt idx="0">
                  <c:v>0.628670980587</c:v>
                </c:pt>
                <c:pt idx="1">
                  <c:v>0.0950942978818</c:v>
                </c:pt>
                <c:pt idx="2">
                  <c:v>0.48843537415</c:v>
                </c:pt>
                <c:pt idx="3">
                  <c:v>0.725922238814</c:v>
                </c:pt>
                <c:pt idx="4">
                  <c:v>0.90571782261</c:v>
                </c:pt>
                <c:pt idx="5">
                  <c:v>0.92243782759</c:v>
                </c:pt>
              </c:numCache>
            </c:numRef>
          </c:val>
          <c:smooth val="0"/>
        </c:ser>
        <c:ser>
          <c:idx val="2"/>
          <c:order val="2"/>
          <c:tx>
            <c:v>Unseen</c:v>
          </c:tx>
          <c:spPr>
            <a:ln xmlns:a="http://schemas.openxmlformats.org/drawingml/2006/main" w="28575">
              <a:solidFill>
                <a:srgbClr val="287755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287755"/>
              </a:solidFill>
            </c:spPr>
          </c:marker>
          <c:cat>
            <c:numRef>
              <c:f>'Chart Data'!$E$2:$E$7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Data'!$F$2:$F$7</c:f>
              <c:numCache>
                <c:formatCode>0.00</c:formatCode>
                <c:ptCount val="6"/>
                <c:pt idx="0">
                  <c:v>0.901017977041</c:v>
                </c:pt>
                <c:pt idx="1">
                  <c:v>0.0772241970212</c:v>
                </c:pt>
                <c:pt idx="2">
                  <c:v>0.494327230567</c:v>
                </c:pt>
                <c:pt idx="3">
                  <c:v>0.718803146771</c:v>
                </c:pt>
                <c:pt idx="4">
                  <c:v>0.912264340717</c:v>
                </c:pt>
                <c:pt idx="5">
                  <c:v>0.854069217596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Switch sampling denominator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DE4EA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False-positive rate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25"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SYN recall</c:v>
          </c:tx>
          <c:spPr>
            <a:solidFill xmlns:a="http://schemas.openxmlformats.org/drawingml/2006/main">
              <a:srgbClr val="287755"/>
            </a:solidFill>
          </c:spPr>
          <c:invertIfNegative val="0"/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50</c:v>
                </c:pt>
              </c:numCache>
            </c:numRef>
          </c:cat>
          <c:val>
            <c:numRef>
              <c:f>'Chart Data'!$B$2:$B$7</c:f>
              <c:numCache>
                <c:formatCode>0%</c:formatCode>
                <c:ptCount val="6"/>
                <c:pt idx="0">
                  <c:v>0.995879105307</c:v>
                </c:pt>
                <c:pt idx="1">
                  <c:v>0.997250847419</c:v>
                </c:pt>
                <c:pt idx="2">
                  <c:v>0.97520661157</c:v>
                </c:pt>
                <c:pt idx="3">
                  <c:v>0.951989026063</c:v>
                </c:pt>
                <c:pt idx="4">
                  <c:v>0.899568071285</c:v>
                </c:pt>
                <c:pt idx="5">
                  <c:v>0.813227675181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Switch sampling denominator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Arial"/>
                    <a:ea typeface="Arial"/>
                    <a:cs typeface="Arial"/>
                  </a:rPr>
                  <a:t>Held-out family recall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</c:title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5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4DEAB-A282-4425-B831-CBD64973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10668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Sampled telemetry and</a:t>
            </a:r>
          </a:p>
          <a:p xmlns:a="http://schemas.openxmlformats.org/drawingml/2006/main">
            <a: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adaptive flood detection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0897E-FD1B-4C33-8292-970BD1C8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0287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A controlled 5G-NIDD replay study in an SDN emulator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35DF76-FD14-48DE-9DF9-4320FD5BF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62500"/>
            <a:ext cx="1028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96875"/>
                </a:solidFill>
                <a:latin typeface="Arial"/>
                <a:ea typeface="Arial"/>
                <a:cs typeface="Arial"/>
              </a:rPr>
              <a:t>54 accepted live trials</a:t>
            </a:r>
          </a:p>
          <a:p xmlns:a="http://schemas.openxmlformats.org/drawingml/2006/main">
            <a:pPr>
              <a:defRPr sz="195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96875"/>
                </a:solidFill>
                <a:latin typeface="Arial"/>
                <a:ea typeface="Arial"/>
                <a:cs typeface="Arial"/>
              </a:rPr>
              <a:t>Independent packet truth and reproducible measurements</a:t>
            </a:r>
          </a:p>
        </p:txBody>
      </p:sp>
    </p:spTree>
    <p:extLst>
      <p:ext uri="{BB962C8B-B14F-4D97-AF65-F5344CB8AC3E}">
        <p14:creationId xmlns:p14="http://schemas.microsoft.com/office/powerpoint/2010/main" val="96979031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5316B-61E0-4181-8DBC-8E7AAA342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Study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40C406-7EB4-47BF-9513-5E41B7D68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513BBD-2C14-4EB4-86E4-86E30CC37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Six switch sampling values: N = 1, 2, 5, 10, 20 and 50. Three repeats for each scenario and 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5ECBF-A1DA-408D-960B-019A1A41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Baseline, held-out SYN introduction, and a constructed family/cadence shift. Every selected class replays at 100 packets/s.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8B1ADA-19BD-4A1C-BD71-2C472A86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Primary windows: 0.1 seconds. A separate one-second sensitivity rebuilds features from saved raw exports.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EE3011-7E3A-4DFF-BBFA-66E51B3E1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N = 1 is the unsampled M3 reference. M1/M2 and automatic mitigation are outside this study.</a:t>
            </a:r>
          </a:p>
        </p:txBody>
      </p:sp>
    </p:spTree>
    <p:extLst>
      <p:ext uri="{BB962C8B-B14F-4D97-AF65-F5344CB8AC3E}">
        <p14:creationId xmlns:p14="http://schemas.microsoft.com/office/powerpoint/2010/main" val="2933508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3BD39A-9DAE-44B7-A16F-E3CB63639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Independent truth and causal prediction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636084-E959-4EE3-A1BB-BBAAA6297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1C1F19-F23B-4D9C-8E00-4E2194494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Sender and receiver captures agree on every original frame. Kernel receive timestamps define physical attack onset.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CE94C5-B64C-45FC-BC10-979D46A01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The detector predicts before reading that window’s independent label. Scoring precedes learning.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BB295-9797-47B4-B9FA-18339EE38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The 0.5-second parameter holds a completed window before prediction. The oracle label is then read immediately.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97AC32-B704-41AC-94BF-04C30E4AB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Empty sampled windows remain scored when original-packet truth exists. Unknown original truth stays unscored.</a:t>
            </a:r>
          </a:p>
        </p:txBody>
      </p:sp>
    </p:spTree>
    <p:extLst>
      <p:ext uri="{BB962C8B-B14F-4D97-AF65-F5344CB8AC3E}">
        <p14:creationId xmlns:p14="http://schemas.microsoft.com/office/powerpoint/2010/main" val="21160892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978951-8727-4989-B1CD-F86F7C1E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Mean attack F1 by sampling rate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1CA609-0C34-4B3F-A4BC-B8A9B3C5F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4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D03CD236-ABE7-4114-B5FF-CD5E0897E2C5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8392219f0fb468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A3D119-6A00-45E3-BD2E-3C711050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875"/>
                </a:solidFill>
                <a:latin typeface="Arial"/>
                <a:ea typeface="Arial"/>
                <a:cs typeface="Arial"/>
              </a:rPr>
              <a:t>Trial means. Sample SD and unbounded 95% Student-t intervals are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11192302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8950F-6461-4C25-9A37-DD7579D36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Measured control-channel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4B347-D217-40A8-BBC5-A1A8691F5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5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F31C1BCA-4C88-4DEF-96F7-C429994FD2DE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c7e41cbe634458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C13D36-17BD-41B6-AF9D-A5B9647B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875"/>
                </a:solidFill>
                <a:latin typeface="Arial"/>
                <a:ea typeface="Arial"/>
                <a:cs typeface="Arial"/>
              </a:rPr>
              <a:t>Trial means. Sample SD and unbounded 95% Student-t intervals are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87387009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D2AE5-B5E7-4DC4-A107-15219109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False positives remain visible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E793C-AA36-488E-96DB-0826EA069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6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23F4F69E-7502-43C8-B9A0-CD3A99A7BA3B}"/>
              </a:ext>
            </a:extLst>
          </p:cNvPr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53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c5e8f2671844580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BE864E-105A-413F-9D4C-7D7E64F2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6740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defPPr>
            <a:lvl1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1pPr>
            <a:lvl2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2pPr>
            <a:lvl3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3pPr>
            <a:lvl4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4pPr>
            <a:lvl5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5pPr>
            <a:lvl6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6pPr>
            <a:lvl7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7pPr>
            <a:lvl8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8pPr>
            <a:lvl9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875"/>
                </a:solidFill>
                <a:latin typeface="Arial"/>
                <a:ea typeface="Arial"/>
                <a:cs typeface="Arial"/>
              </a:rPr>
              <a:t>Trial means. Sample SD and unbounded 95% Student-t intervals are in the report.</a:t>
            </a:r>
          </a:p>
        </p:txBody>
      </p:sp>
    </p:spTree>
    <p:extLst>
      <p:ext uri="{BB962C8B-B14F-4D97-AF65-F5344CB8AC3E}">
        <p14:creationId xmlns:p14="http://schemas.microsoft.com/office/powerpoint/2010/main" val="8935165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C99F5-48BA-46EC-AAA0-40884BAF6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Physical detection and recovery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F5C47C-B266-45E0-8D98-D8D41BC7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8E4EEB-CDEF-4AEE-8745-F7E26DDDF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Baseline</a:t>
            </a:r>
          </a:p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N=1: 0.635 s, 3/3 detected     N=50: 1.201 s, 3/3 detected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FE9D3-A3DB-4386-BBB4-9260109F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Drift</a:t>
            </a:r>
          </a:p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N=1: 0.629 s, 3/3 detected     N=50: 1.368 s, 3/3 detected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71DE76-5A12-4011-8BDA-477E2548F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Unseen</a:t>
            </a:r>
          </a:p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N=1: 0.597 s, 3/3 detected     N=50: 1.287 s, 3/3 detected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36C5D6-95D4-4800-92E2-D66EB5133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10744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Drift recovery at N=2: 6.506 s, 3/3 recovered with the fixed criterion.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CBFD5-C3D1-41B5-891C-A669D9891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defPPr>
            <a:lvl1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1pPr>
            <a:lvl2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2pPr>
            <a:lvl3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3pPr>
            <a:lvl4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4pPr>
            <a:lvl5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5pPr>
            <a:lvl6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6pPr>
            <a:lvl7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7pPr>
            <a:lvl8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8pPr>
            <a:lvl9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96875"/>
                </a:solidFill>
                <a:latin typeface="Arial"/>
                <a:ea typeface="Arial"/>
                <a:cs typeface="Arial"/>
              </a:rPr>
              <a:t>First post-warm-up attack episode. Means include detections only; misses are censored, never zero.</a:t>
            </a:r>
          </a:p>
        </p:txBody>
      </p:sp>
    </p:spTree>
    <p:extLst>
      <p:ext uri="{BB962C8B-B14F-4D97-AF65-F5344CB8AC3E}">
        <p14:creationId xmlns:p14="http://schemas.microsoft.com/office/powerpoint/2010/main" val="10934525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A60EC-DE02-4E0A-8D47-547840028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Previously held-out SYN family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7F5AD-80C6-46B6-B1AF-ECE1BAA4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8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8AD32AB6-F7A0-4EB7-985C-A6E015446179}"/>
              </a:ext>
            </a:extLst>
          </p:cNvPr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1076325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b5d4c4b177468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1C30E-F24B-4128-8D52-8A431801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875"/>
                </a:solidFill>
                <a:latin typeface="Arial"/>
                <a:ea typeface="Arial"/>
                <a:cs typeface="Arial"/>
              </a:rPr>
              <a:t>SYN is absent during warm-up. Subsequent oracle labels allow adaptation, so this is not a broad zero-day guarantee.</a:t>
            </a:r>
          </a:p>
        </p:txBody>
      </p:sp>
    </p:spTree>
    <p:extLst>
      <p:ext uri="{BB962C8B-B14F-4D97-AF65-F5344CB8AC3E}">
        <p14:creationId xmlns:p14="http://schemas.microsoft.com/office/powerpoint/2010/main" val="126419330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684CF8-3AE7-4C27-88C0-F7610141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Descriptive sampling recommendations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498FD0-473E-4D0E-BAA0-A855DF8D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6625AA-EF77-47A2-A8EF-8722A9361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Drift: N=2</a:t>
            </a:r>
          </a:p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Mean F1 0.954 and combined IP cost 76.724 kbit/s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23605E-322F-4B65-9265-D36892B9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Baseline: N=2</a:t>
            </a:r>
          </a:p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Mean F1 0.956 and combined IP cost 85.134 kbit/s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4A9595-171E-49F5-88A5-63D8701C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99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Unseen: N=2</a:t>
            </a:r>
          </a:p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Mean F1 0.962 and combined IP cost 85.635 kbit/s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CFC2F-4174-4AFD-A408-68DDD31D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0744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defPPr>
            <a:lvl1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1pPr>
            <a:lvl2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2pPr>
            <a:lvl3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3pPr>
            <a:lvl4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4pPr>
            <a:lvl5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5pPr>
            <a:lvl6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6pPr>
            <a:lvl7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7pPr>
            <a:lvl8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8pPr>
            <a:lvl9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5968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96875"/>
                </a:solidFill>
                <a:latin typeface="Arial"/>
                <a:ea typeface="Arial"/>
                <a:cs typeface="Arial"/>
              </a:rPr>
              <a:t>Fixed equal-weight distance to the normalized ideal. These are in-study suggestions, not universal optima.</a:t>
            </a:r>
          </a:p>
        </p:txBody>
      </p:sp>
    </p:spTree>
    <p:extLst>
      <p:ext uri="{BB962C8B-B14F-4D97-AF65-F5344CB8AC3E}">
        <p14:creationId xmlns:p14="http://schemas.microsoft.com/office/powerpoint/2010/main" val="88525068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F1C94-35BE-4D02-AAD7-BEF763EB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347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  <a:lvl1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1pPr>
            <a:lvl2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2pPr>
            <a:lvl3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3pPr>
            <a:lvl4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4pPr>
            <a:lvl5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5pPr>
            <a:lvl6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6pPr>
            <a:lvl7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7pPr>
            <a:lvl8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8pPr>
            <a:lvl9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Evidence, limits and demonstration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66295D-8530-4FD0-BE28-263EE5BE6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47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defPPr>
            <a:lvl1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1pPr>
            <a:lvl2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2pPr>
            <a:lvl3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3pPr>
            <a:lvl4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4pPr>
            <a:lvl5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5pPr>
            <a:lvl6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6pPr>
            <a:lvl7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7pPr>
            <a:lvl8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8pPr>
            <a:lvl9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64717E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4717E"/>
                </a:solidFill>
                <a:latin typeface="Arial"/>
                <a:ea typeface="Arial"/>
                <a:cs typeface="Arial"/>
              </a:rPr>
              <a:t>M3 controlled replay study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F6C677-9AC1-47AC-8959-349F0AA67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Reproduce from the official dataset, frozen protocol, source mappings and trial configurations. Failed attempts remain recorded.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782E2D-3C24-49C5-BF71-1A034A7F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336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The report includes paired uncertainty, nonadaptive-tree and majority ablations, and one-second sensitivity.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0D9D96-C358-4575-9B2B-777E49D0C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004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Constructed timing, flow correlations, oracle labels and one shared-host emulator limit generalization. No physical 5G deployment claim.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1260A6-0B13-4C67-ADE2-7A0B8492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0744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25354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544"/>
                </a:solidFill>
                <a:latin typeface="Arial"/>
                <a:ea typeface="Arial"/>
                <a:cs typeface="Arial"/>
              </a:rPr>
              <a:t>Demo: open the local dashboard, choose a validated live trial, inspect predictions and cost, then compare compatible N values.</a:t>
            </a:r>
          </a:p>
        </p:txBody>
      </p:sp>
    </p:spTree>
    <p:extLst>
      <p:ext uri="{BB962C8B-B14F-4D97-AF65-F5344CB8AC3E}">
        <p14:creationId xmlns:p14="http://schemas.microsoft.com/office/powerpoint/2010/main" val="4689760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2026-10-20T07:58:35.0800000Z</dcterms:created>
  <dcterms:modified xsi:type="dcterms:W3CDTF">2026-10-20T07:58:35.0800000Z</dcterms:modified>
</coreProperties>
</file>